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AI Collaborator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8A6FF"/>
                </a:solidFill>
                <a:latin typeface="Calibri"/>
              </a:defRPr>
            </a:pPr>
            <a:r>
              <a:t>Learn to manage AI — not just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20624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12 hands-on lessons  •  6 managerial skills  •  4 progressive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Most AI training teaches the wrong 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080"/>
                </a:solidFill>
                <a:latin typeface="Calibri"/>
              </a:defRPr>
            </a:pPr>
            <a:r>
              <a:t>Typical AI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✗  Prompt tricks without judgment to apply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✗  Tool training that expires when the UI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✗  One-shot demos that don't stick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✗  No framework for when AI fails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295" y="1645920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9615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0FF80"/>
                </a:solidFill>
                <a:latin typeface="Calibri"/>
              </a:defRPr>
            </a:pPr>
            <a:r>
              <a:t>This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9615" y="2468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alibri"/>
              </a:defRPr>
            </a:pPr>
            <a:r>
              <a:t>✓  Transferable managerial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3108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alibri"/>
              </a:defRPr>
            </a:pPr>
            <a:r>
              <a:t>✓  Works with any AI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374903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alibri"/>
              </a:defRPr>
            </a:pPr>
            <a:r>
              <a:t>✓  Practice-based habit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9615" y="4389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alibri"/>
              </a:defRPr>
            </a:pPr>
            <a:r>
              <a:t>✓  Know exactly when to trust and verify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Six Skills That Make the Difference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54864" cy="237744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79"/>
                </a:solidFill>
                <a:latin typeface="Calibri"/>
              </a:defRPr>
            </a:pPr>
            <a:r>
              <a:t>Context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  <a:latin typeface="Calibri"/>
              </a:defRPr>
            </a:pPr>
            <a:r>
              <a:t>Curating the briefing that shapes AI output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Lessons: L1, L3, L4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54864" cy="2377440"/>
          </a:xfrm>
          <a:prstGeom prst="rect">
            <a:avLst/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079B0"/>
                </a:solidFill>
                <a:latin typeface="Calibri"/>
              </a:defRPr>
            </a:pPr>
            <a:r>
              <a:t>Quality Judgment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  <a:latin typeface="Calibri"/>
              </a:defRPr>
            </a:pPr>
            <a:r>
              <a:t>Distinguishing "looks right" from "is right"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Lessons: L5, L6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7160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371600"/>
            <a:ext cx="54864" cy="2377440"/>
          </a:xfrm>
          <a:prstGeom prst="rect">
            <a:avLst/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8050"/>
                </a:solidFill>
                <a:latin typeface="Calibri"/>
              </a:defRPr>
            </a:pPr>
            <a:r>
              <a:t>Task Decomposition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  <a:latin typeface="Calibri"/>
              </a:defRPr>
            </a:pPr>
            <a:r>
              <a:t>Breaking complex problems into AI-appropriate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Lessons: L7, L8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54864" cy="2377440"/>
          </a:xfrm>
          <a:prstGeom prst="rect">
            <a:avLst/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90B0"/>
                </a:solidFill>
                <a:latin typeface="Calibri"/>
              </a:defRPr>
            </a:pPr>
            <a:r>
              <a:t>Iterative 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  <a:latin typeface="Calibri"/>
              </a:defRPr>
            </a:pPr>
            <a:r>
              <a:t>Steering toward outcomes through successive approximations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89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Lessons: L2, L9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06908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069080"/>
            <a:ext cx="54864" cy="2377440"/>
          </a:xfrm>
          <a:prstGeom prst="rect">
            <a:avLst/>
          </a:prstGeom>
          <a:solidFill>
            <a:srgbClr val="B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7050"/>
                </a:solidFill>
                <a:latin typeface="Calibri"/>
              </a:defRPr>
            </a:pPr>
            <a:r>
              <a:t>Workflow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  <a:latin typeface="Calibri"/>
              </a:defRPr>
            </a:pPr>
            <a:r>
              <a:t>Embedding AI into sustainable work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989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Lessons: L10, L12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406908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4069080"/>
            <a:ext cx="54864" cy="2377440"/>
          </a:xfrm>
          <a:prstGeom prst="rect">
            <a:avLst/>
          </a:prstGeom>
          <a:solidFill>
            <a:srgbClr val="60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7090"/>
                </a:solidFill>
                <a:latin typeface="Calibri"/>
              </a:defRPr>
            </a:pPr>
            <a:r>
              <a:t>Frontier Recognition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617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8A6FF"/>
                </a:solidFill>
                <a:latin typeface="Calibri"/>
              </a:defRPr>
            </a:pPr>
            <a:r>
              <a:t>Knowing the boundaries of AI capability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989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Lessons: L11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017520" cy="320040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40280" y="2286000"/>
            <a:ext cx="731520" cy="731520"/>
          </a:xfrm>
          <a:prstGeom prst="ellipse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Each lesson introduces a concept with clear definitions and real-world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011680"/>
            <a:ext cx="3017520" cy="320040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06440" y="2286000"/>
            <a:ext cx="731520" cy="731520"/>
          </a:xfrm>
          <a:prstGeom prst="ellipse">
            <a:avLst/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Interactive exercises analyze your actual AI conversations and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017520" cy="320040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2286000"/>
            <a:ext cx="731520" cy="731520"/>
          </a:xfrm>
          <a:prstGeom prst="ellipse">
            <a:avLst/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Personal dashboards show your growth across all six skills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A9079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3 lessons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Context Tracker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Context Assembly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AI conversations fail when critical context is missing. You waste time on back-and-forth clarifications or get unusable outputs because you forgot to mention key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Identify your personal context gaps by analyzing past conversations. Discover what information you consistently forget to provide so you can fix it upfront.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Feedback Analyzer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Iterative Refinement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Vague feedback like "make it better" wastes iteration cycles. Without specific, actionable feedback, you keep going in circles.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Write feedback that identifies specific locations, states clear actions, and explains reasoning. Learn to spot vague patterns in your own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Template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Context Assembly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You keep forgetting to provide the same context over and over. Each conversation starts from scratch, wasting time re-explaining your project and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Build reusable templates that capture the context AI needs upfront. Turn your insights into structured prompts you can use consistently.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9079B0"/>
                </a:solidFill>
                <a:latin typeface="Calibri"/>
              </a:defRPr>
            </a:pPr>
            <a:r>
              <a:t>Documentation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3 lessons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Context 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Context Assembly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Every new AI session starts from scratch. You waste time re-explaining project context, and the AI makes the same mistakes you've already corrected.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Maintain living context documents that capture project state, decisions, issues, and lessons. Start each session with full context for immediate productivity.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Trust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Quality Judgment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You either over-verify everything (wasting time) or blindly trust AI output (introducing errors). Without calibrated judgment, you can't efficiently allocate review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Build a personal trust matrix by tracking predictions about AI accuracy. Learn which output types you can trust and which require careful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Verification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907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Quality Judgment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Without systematic verification, you either waste time over-checking or miss critical errors by under-checking outputs that needed scrutiny.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Create reusable verification checklists tied to output types. Track which checks actually catch issues to refine your process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08050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4 lessons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Task Decomposer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Task Decomposition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Without decomposition skills, you either delegate tasks that need your judgment (poor results) or do everything yourself (wasting AI's potential).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Break projects into subtasks and categorize each as AI-Optimal, Collaborative, or Human-Primary. Sequence tasks with dependencies to optimize the human-AI division of labor.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Delegation Tracker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Task Decomposition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Knowing what to delegate is only half the battle. Without structured delegation, you give vague instructions and get disappointing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Create delegation templates with clear context, objectives, scope, deliverables, and success criteria. Execute decomposed tasks while tracking outcomes.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Iteration Passes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Iterative Refinement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Random iteration ("make it better") wastes cycles and leads to scope creep. Without structure, you keep tweaking without knowing when "done" is reached.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Use the 70-85-95 framework to iterate with purpose. Each pass has a specific focus and key question, so you know exactly what to evaluate and when to move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Status Reporter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B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Workflow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Recurring tasks like status reports, meeting summaries, and client updates eat up valuable time when done manually each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Design AI-integrated workflows for recurring tasks. Create templates, track inputs, and measure time savings to build sustainable AI collaboration habits.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090B0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2 lessons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Frontier Mapper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60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Frontier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AI capabilities change rapidly. Without tracking the frontier, you can't anticipate what's possible or prepare for new opportunities.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Map AI reliability zones and log frontier encounters to build your personal AI capability map. Track where AI excels, where it struggles, and where the boundaries are shifting.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LESSON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Reference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B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Workflow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0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All your learnings across lessons can be overwhelming to remember and apply consistently in daily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73736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79"/>
                </a:solidFill>
                <a:latin typeface="Calibri"/>
              </a:defRPr>
            </a:pPr>
            <a:r>
              <a:t>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  <a:r>
              <a:t>Generate your personal AI collaboration quick reference card from your learnings across all lessons. Synthesize your insights into an actionable cheat sheet.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 the skills that compound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All 12 lessons available from day one.</a:t>
            </a:r>
            <a:br/>
            <a:r>
              <a:t>No sequential unlocking.</a:t>
            </a:r>
            <a:br/>
            <a:r>
              <a:t>Start wherever your skills need the most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8A6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4114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8A6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Core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114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8A6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